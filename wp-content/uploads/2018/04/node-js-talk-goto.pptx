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1" name="Shape 121"/>
          <p:cNvSpPr/>
          <p:nvPr>
            <p:ph type="sldImg"/>
          </p:nvPr>
        </p:nvSpPr>
        <p:spPr>
          <a:prstGeom prst="rect">
            <a:avLst/>
          </a:prstGeom>
        </p:spPr>
        <p:txBody>
          <a:bodyPr/>
          <a:lstStyle/>
          <a:p>
            <a:pPr/>
          </a:p>
        </p:txBody>
      </p:sp>
      <p:sp>
        <p:nvSpPr>
          <p:cNvPr id="122" name="Shape 122"/>
          <p:cNvSpPr/>
          <p:nvPr>
            <p:ph type="body" sz="quarter" idx="1"/>
          </p:nvPr>
        </p:nvSpPr>
        <p:spPr>
          <a:prstGeom prst="rect">
            <a:avLst/>
          </a:prstGeom>
        </p:spPr>
        <p:txBody>
          <a:bodyPr/>
          <a:lstStyle/>
          <a:p>
            <a:pPr/>
            <a:r>
              <a:t>Hello. I’m Adron and I’m going to take you through a kind of journey via Node.js and JavaScript today. This is going to be a little bit about a range of things, and it’ll largely seem kind of sporadic.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6" name="Shape 126"/>
          <p:cNvSpPr/>
          <p:nvPr>
            <p:ph type="sldImg"/>
          </p:nvPr>
        </p:nvSpPr>
        <p:spPr>
          <a:prstGeom prst="rect">
            <a:avLst/>
          </a:prstGeom>
        </p:spPr>
        <p:txBody>
          <a:bodyPr/>
          <a:lstStyle/>
          <a:p>
            <a:pPr/>
          </a:p>
        </p:txBody>
      </p:sp>
      <p:sp>
        <p:nvSpPr>
          <p:cNvPr id="127" name="Shape 127"/>
          <p:cNvSpPr/>
          <p:nvPr>
            <p:ph type="body" sz="quarter" idx="1"/>
          </p:nvPr>
        </p:nvSpPr>
        <p:spPr>
          <a:prstGeom prst="rect">
            <a:avLst/>
          </a:prstGeom>
        </p:spPr>
        <p:txBody>
          <a:bodyPr/>
          <a:lstStyle/>
          <a:p>
            <a:pPr/>
            <a:r>
              <a:t>However, the objective of my talk today is to invoke some ideas on how to build things with Node.js that might break the traditional mold. By breaking the existing ways we do things we can hopefully build better, bigger, more capable things with Node.js, JavaScript, and the litany of tooling that exists with the ecosystem. All of this, by going smaller, simpler, and easier with our designs and systems for the future.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p>
            <a:pPr/>
            <a:r>
              <a:t>Before getting into the topic, let’s talk about where we’ve been, where we are, and what we might make possible in our future.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Created in 2009</a:t>
            </a:r>
          </a:p>
          <a:p>
            <a:pPr/>
            <a:r>
              <a:t>Helped better deployments vs. traditional JVM/.NET stack.</a:t>
            </a:r>
          </a:p>
          <a:p>
            <a:pPr/>
            <a:r>
              <a:t>Simplified web dev by enabling js on server &amp; client…</a:t>
            </a:r>
          </a:p>
          <a:p>
            <a:pPr/>
            <a:r>
              <a:t>A huge community got involved.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3" name="Shape 143"/>
          <p:cNvSpPr/>
          <p:nvPr>
            <p:ph type="sldImg"/>
          </p:nvPr>
        </p:nvSpPr>
        <p:spPr>
          <a:prstGeom prst="rect">
            <a:avLst/>
          </a:prstGeom>
        </p:spPr>
        <p:txBody>
          <a:bodyPr/>
          <a:lstStyle/>
          <a:p>
            <a:pPr/>
          </a:p>
        </p:txBody>
      </p:sp>
      <p:sp>
        <p:nvSpPr>
          <p:cNvPr id="144" name="Shape 144"/>
          <p:cNvSpPr/>
          <p:nvPr>
            <p:ph type="body" sz="quarter" idx="1"/>
          </p:nvPr>
        </p:nvSpPr>
        <p:spPr>
          <a:prstGeom prst="rect">
            <a:avLst/>
          </a:prstGeom>
        </p:spPr>
        <p:txBody>
          <a:bodyPr/>
          <a:lstStyle/>
          <a:p>
            <a:pPr/>
            <a:r>
              <a:t>Containers</a:t>
            </a:r>
          </a:p>
          <a:p>
            <a:pPr/>
            <a:r>
              <a:t>Container Schedulers &amp; Management</a:t>
            </a:r>
          </a:p>
          <a:p>
            <a:pPr/>
            <a:r>
              <a:t>AWS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8" name="Shape 148"/>
          <p:cNvSpPr/>
          <p:nvPr>
            <p:ph type="sldImg"/>
          </p:nvPr>
        </p:nvSpPr>
        <p:spPr>
          <a:prstGeom prst="rect">
            <a:avLst/>
          </a:prstGeom>
        </p:spPr>
        <p:txBody>
          <a:bodyPr/>
          <a:lstStyle/>
          <a:p>
            <a:pPr/>
          </a:p>
        </p:txBody>
      </p:sp>
      <p:sp>
        <p:nvSpPr>
          <p:cNvPr id="149" name="Shape 149"/>
          <p:cNvSpPr/>
          <p:nvPr>
            <p:ph type="body" sz="quarter" idx="1"/>
          </p:nvPr>
        </p:nvSpPr>
        <p:spPr>
          <a:prstGeom prst="rect">
            <a:avLst/>
          </a:prstGeom>
        </p:spPr>
        <p:txBody>
          <a:bodyPr/>
          <a:lstStyle/>
          <a:p>
            <a:pPr/>
            <a:r>
              <a:t>Observability</a:t>
            </a:r>
          </a:p>
          <a:p>
            <a:pPr/>
            <a:r>
              <a:t>Machine Learning</a:t>
            </a:r>
          </a:p>
          <a:p>
            <a:pPr/>
            <a:r>
              <a:t>Transparency of Application &amp; Service Operations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p>
            <a:pPr/>
            <a:r>
              <a:t>First… we’ll check that my kubernetes connection is setup with a `kubectl` command.</a:t>
            </a:r>
          </a:p>
          <a:p>
            <a:pPr/>
          </a:p>
          <a:p>
            <a:pPr/>
            <a:r>
              <a:t>Then create the base files - open code.</a:t>
            </a:r>
          </a:p>
          <a:p>
            <a:pPr/>
          </a:p>
          <a:p>
            <a:pPr/>
            <a:r>
              <a:t>Now let’s create a basic server…</a:t>
            </a:r>
          </a:p>
          <a:p>
            <a:pPr/>
          </a:p>
          <a:p>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Now the application, packaged in a docker image, can be deployed via kubernetes.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a:r>
              <a:t>While that finishes up, the image gets built, basic elements of the app - namely the server.js file is copied and the startup for the container is setup to execute that via node.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That was a minimal example but it proves out some elements that quickly…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Node v4 is dead, 10 is the new node, long live node.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r>
              <a:t>Obviously, no demos of the future yet, because we’re building that. But the talk title comes into play here.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3" name="Shape 193"/>
          <p:cNvSpPr/>
          <p:nvPr>
            <p:ph type="sldImg"/>
          </p:nvPr>
        </p:nvSpPr>
        <p:spPr>
          <a:prstGeom prst="rect">
            <a:avLst/>
          </a:prstGeom>
        </p:spPr>
        <p:txBody>
          <a:bodyPr/>
          <a:lstStyle/>
          <a:p>
            <a:pPr/>
          </a:p>
        </p:txBody>
      </p:sp>
      <p:sp>
        <p:nvSpPr>
          <p:cNvPr id="194" name="Shape 194"/>
          <p:cNvSpPr/>
          <p:nvPr>
            <p:ph type="body" sz="quarter" idx="1"/>
          </p:nvPr>
        </p:nvSpPr>
        <p:spPr>
          <a:prstGeom prst="rect">
            <a:avLst/>
          </a:prstGeom>
        </p:spPr>
        <p:txBody>
          <a:bodyPr/>
          <a:lstStyle/>
          <a:p>
            <a:pPr/>
            <a:r>
              <a:t>I’m currently building a reference application with the elements previously mentioned. This is where I could really use your help to build the future.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The focus of the project is around building the application so it is at inception has observability, machine learning, transparency, and operational efficiencies built in.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2" name="Shape 202"/>
          <p:cNvSpPr/>
          <p:nvPr>
            <p:ph type="sldImg"/>
          </p:nvPr>
        </p:nvSpPr>
        <p:spPr>
          <a:prstGeom prst="rect">
            <a:avLst/>
          </a:prstGeom>
        </p:spPr>
        <p:txBody>
          <a:bodyPr/>
          <a:lstStyle/>
          <a:p>
            <a:pPr/>
          </a:p>
        </p:txBody>
      </p:sp>
      <p:sp>
        <p:nvSpPr>
          <p:cNvPr id="203" name="Shape 203"/>
          <p:cNvSpPr/>
          <p:nvPr>
            <p:ph type="body" sz="quarter" idx="1"/>
          </p:nvPr>
        </p:nvSpPr>
        <p:spPr>
          <a:prstGeom prst="rect">
            <a:avLst/>
          </a:prstGeom>
        </p:spPr>
        <p:txBody>
          <a:bodyPr/>
          <a:lstStyle/>
          <a:p>
            <a:pPr/>
            <a:r>
              <a:t>Here’s a simple Cassandra Cluster plus Application Tier of Node.js Servers.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a:r>
              <a:t>Nodes. Connecting everything.</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1270000" y="1638300"/>
            <a:ext cx="10464800" cy="3302000"/>
          </a:xfrm>
          <a:prstGeom prst="rect">
            <a:avLst/>
          </a:prstGeom>
        </p:spPr>
        <p:txBody>
          <a:bodyPr anchor="b"/>
          <a:lstStyle/>
          <a:p>
            <a:pPr/>
            <a:r>
              <a:t>Title Text</a:t>
            </a:r>
          </a:p>
        </p:txBody>
      </p:sp>
      <p:sp>
        <p:nvSpPr>
          <p:cNvPr id="12" name="Body Level One…"/>
          <p:cNvSpPr txBox="1"/>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Photo - Horizontal">
    <p:spTree>
      <p:nvGrpSpPr>
        <p:cNvPr id="1" name=""/>
        <p:cNvGrpSpPr/>
        <p:nvPr/>
      </p:nvGrpSpPr>
      <p:grpSpPr>
        <a:xfrm>
          <a:off x="0" y="0"/>
          <a:ext cx="0" cy="0"/>
          <a:chOff x="0" y="0"/>
          <a:chExt cx="0" cy="0"/>
        </a:xfrm>
      </p:grpSpPr>
      <p:sp>
        <p:nvSpPr>
          <p:cNvPr id="20" name="Image"/>
          <p:cNvSpPr/>
          <p:nvPr>
            <p:ph type="pic" idx="13"/>
          </p:nvPr>
        </p:nvSpPr>
        <p:spPr>
          <a:xfrm>
            <a:off x="1625600" y="673100"/>
            <a:ext cx="9753600" cy="5905500"/>
          </a:xfrm>
          <a:prstGeom prst="rect">
            <a:avLst/>
          </a:prstGeom>
        </p:spPr>
        <p:txBody>
          <a:bodyPr lIns="91439" tIns="45719" rIns="91439" bIns="45719" anchor="t">
            <a:noAutofit/>
          </a:bodyPr>
          <a:lstStyle/>
          <a:p>
            <a:pPr/>
          </a:p>
        </p:txBody>
      </p:sp>
      <p:sp>
        <p:nvSpPr>
          <p:cNvPr id="21" name="Title Text"/>
          <p:cNvSpPr txBox="1"/>
          <p:nvPr>
            <p:ph type="title"/>
          </p:nvPr>
        </p:nvSpPr>
        <p:spPr>
          <a:xfrm>
            <a:off x="1270000" y="6718300"/>
            <a:ext cx="10464800" cy="1422400"/>
          </a:xfrm>
          <a:prstGeom prst="rect">
            <a:avLst/>
          </a:prstGeom>
        </p:spPr>
        <p:txBody>
          <a:bodyPr anchor="b"/>
          <a:lstStyle/>
          <a:p>
            <a:pPr/>
            <a:r>
              <a:t>Title Text</a:t>
            </a:r>
          </a:p>
        </p:txBody>
      </p:sp>
      <p:sp>
        <p:nvSpPr>
          <p:cNvPr id="22" name="Body Level One…"/>
          <p:cNvSpPr txBox="1"/>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1" showMasterPhAnim="1">
  <p:cSld name="Title - Center">
    <p:spTree>
      <p:nvGrpSpPr>
        <p:cNvPr id="1" name=""/>
        <p:cNvGrpSpPr/>
        <p:nvPr/>
      </p:nvGrpSpPr>
      <p:grpSpPr>
        <a:xfrm>
          <a:off x="0" y="0"/>
          <a:ext cx="0" cy="0"/>
          <a:chOff x="0" y="0"/>
          <a:chExt cx="0" cy="0"/>
        </a:xfrm>
      </p:grpSpPr>
      <p:sp>
        <p:nvSpPr>
          <p:cNvPr id="30" name="Title Text"/>
          <p:cNvSpPr txBox="1"/>
          <p:nvPr>
            <p:ph type="title"/>
          </p:nvPr>
        </p:nvSpPr>
        <p:spPr>
          <a:xfrm>
            <a:off x="1270000" y="3225800"/>
            <a:ext cx="10464800" cy="33020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1" showMasterPhAnim="1">
  <p:cSld name="Photo - Vertical">
    <p:spTree>
      <p:nvGrpSpPr>
        <p:cNvPr id="1" name=""/>
        <p:cNvGrpSpPr/>
        <p:nvPr/>
      </p:nvGrpSpPr>
      <p:grpSpPr>
        <a:xfrm>
          <a:off x="0" y="0"/>
          <a:ext cx="0" cy="0"/>
          <a:chOff x="0" y="0"/>
          <a:chExt cx="0" cy="0"/>
        </a:xfrm>
      </p:grpSpPr>
      <p:sp>
        <p:nvSpPr>
          <p:cNvPr id="38" name="Image"/>
          <p:cNvSpPr/>
          <p:nvPr>
            <p:ph type="pic" sz="half" idx="13"/>
          </p:nvPr>
        </p:nvSpPr>
        <p:spPr>
          <a:xfrm>
            <a:off x="6718300" y="635000"/>
            <a:ext cx="5334000" cy="8216900"/>
          </a:xfrm>
          <a:prstGeom prst="rect">
            <a:avLst/>
          </a:prstGeom>
        </p:spPr>
        <p:txBody>
          <a:bodyPr lIns="91439" tIns="45719" rIns="91439" bIns="45719" anchor="t">
            <a:noAutofit/>
          </a:bodyPr>
          <a:lstStyle/>
          <a:p>
            <a:pPr/>
          </a:p>
        </p:txBody>
      </p:sp>
      <p:sp>
        <p:nvSpPr>
          <p:cNvPr id="39" name="Title Text"/>
          <p:cNvSpPr txBox="1"/>
          <p:nvPr>
            <p:ph type="title"/>
          </p:nvPr>
        </p:nvSpPr>
        <p:spPr>
          <a:xfrm>
            <a:off x="952500" y="635000"/>
            <a:ext cx="5334000" cy="3987800"/>
          </a:xfrm>
          <a:prstGeom prst="rect">
            <a:avLst/>
          </a:prstGeom>
        </p:spPr>
        <p:txBody>
          <a:bodyPr anchor="b"/>
          <a:lstStyle>
            <a:lvl1pPr>
              <a:defRPr sz="6000"/>
            </a:lvl1pPr>
          </a:lstStyle>
          <a:p>
            <a:pPr/>
            <a:r>
              <a:t>Title Text</a:t>
            </a:r>
          </a:p>
        </p:txBody>
      </p:sp>
      <p:sp>
        <p:nvSpPr>
          <p:cNvPr id="40" name="Body Level One…"/>
          <p:cNvSpPr txBox="1"/>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1" showMasterPhAnim="1">
  <p:cSld name="Title, Bullets &amp; Photo">
    <p:spTree>
      <p:nvGrpSpPr>
        <p:cNvPr id="1" name=""/>
        <p:cNvGrpSpPr/>
        <p:nvPr/>
      </p:nvGrpSpPr>
      <p:grpSpPr>
        <a:xfrm>
          <a:off x="0" y="0"/>
          <a:ext cx="0" cy="0"/>
          <a:chOff x="0" y="0"/>
          <a:chExt cx="0" cy="0"/>
        </a:xfrm>
      </p:grpSpPr>
      <p:sp>
        <p:nvSpPr>
          <p:cNvPr id="65" name="Image"/>
          <p:cNvSpPr/>
          <p:nvPr>
            <p:ph type="pic" sz="half" idx="13"/>
          </p:nvPr>
        </p:nvSpPr>
        <p:spPr>
          <a:xfrm>
            <a:off x="6718300" y="2590800"/>
            <a:ext cx="5334000" cy="62865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952500" y="1270000"/>
            <a:ext cx="11099800" cy="72136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1" showMasterPhAnim="1">
  <p:cSld name="Photo - 3 Up">
    <p:spTree>
      <p:nvGrpSpPr>
        <p:cNvPr id="1" name=""/>
        <p:cNvGrpSpPr/>
        <p:nvPr/>
      </p:nvGrpSpPr>
      <p:grpSpPr>
        <a:xfrm>
          <a:off x="0" y="0"/>
          <a:ext cx="0" cy="0"/>
          <a:chOff x="0" y="0"/>
          <a:chExt cx="0" cy="0"/>
        </a:xfrm>
      </p:grpSpPr>
      <p:sp>
        <p:nvSpPr>
          <p:cNvPr id="83" name="Image"/>
          <p:cNvSpPr/>
          <p:nvPr>
            <p:ph type="pic" sz="quarter" idx="13"/>
          </p:nvPr>
        </p:nvSpPr>
        <p:spPr>
          <a:xfrm>
            <a:off x="6718300" y="5092700"/>
            <a:ext cx="5334000" cy="3771900"/>
          </a:xfrm>
          <a:prstGeom prst="rect">
            <a:avLst/>
          </a:prstGeom>
        </p:spPr>
        <p:txBody>
          <a:bodyPr lIns="91439" tIns="45719" rIns="91439" bIns="45719" anchor="t">
            <a:noAutofit/>
          </a:bodyPr>
          <a:lstStyle/>
          <a:p>
            <a:pPr/>
          </a:p>
        </p:txBody>
      </p:sp>
      <p:sp>
        <p:nvSpPr>
          <p:cNvPr id="84" name="Image"/>
          <p:cNvSpPr/>
          <p:nvPr>
            <p:ph type="pic" sz="quarter" idx="14"/>
          </p:nvPr>
        </p:nvSpPr>
        <p:spPr>
          <a:xfrm>
            <a:off x="6718300" y="889000"/>
            <a:ext cx="5334000" cy="3771900"/>
          </a:xfrm>
          <a:prstGeom prst="rect">
            <a:avLst/>
          </a:prstGeom>
        </p:spPr>
        <p:txBody>
          <a:bodyPr lIns="91439" tIns="45719" rIns="91439" bIns="45719" anchor="t">
            <a:noAutofit/>
          </a:bodyPr>
          <a:lstStyle/>
          <a:p>
            <a:pPr/>
          </a:p>
        </p:txBody>
      </p:sp>
      <p:sp>
        <p:nvSpPr>
          <p:cNvPr id="85" name="Image"/>
          <p:cNvSpPr/>
          <p:nvPr>
            <p:ph type="pic" sz="half" idx="15"/>
          </p:nvPr>
        </p:nvSpPr>
        <p:spPr>
          <a:xfrm>
            <a:off x="952500" y="889000"/>
            <a:ext cx="5334000" cy="7975600"/>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type="tx" showMasterSp="1" showMasterPhAnim="1">
  <p:cSld name="Quote">
    <p:spTree>
      <p:nvGrpSpPr>
        <p:cNvPr id="1" name=""/>
        <p:cNvGrpSpPr/>
        <p:nvPr/>
      </p:nvGrpSpPr>
      <p:grpSpPr>
        <a:xfrm>
          <a:off x="0" y="0"/>
          <a:ext cx="0" cy="0"/>
          <a:chOff x="0" y="0"/>
          <a:chExt cx="0" cy="0"/>
        </a:xfrm>
      </p:grpSpPr>
      <p:sp>
        <p:nvSpPr>
          <p:cNvPr id="93" name="–Johnny Appleseed"/>
          <p:cNvSpPr txBox="1"/>
          <p:nvPr>
            <p:ph type="body" sz="quarter" idx="13"/>
          </p:nvPr>
        </p:nvSpPr>
        <p:spPr>
          <a:xfrm>
            <a:off x="1270000" y="6362700"/>
            <a:ext cx="10464800" cy="461366"/>
          </a:xfrm>
          <a:prstGeom prst="rect">
            <a:avLst/>
          </a:prstGeom>
        </p:spPr>
        <p:txBody>
          <a:bodyPr anchor="t">
            <a:spAutoFit/>
          </a:bodyPr>
          <a:lstStyle>
            <a:lvl1pPr marL="0" indent="0" algn="ctr">
              <a:spcBef>
                <a:spcPts val="0"/>
              </a:spcBef>
              <a:buSzTx/>
              <a:buNone/>
              <a:defRPr i="1" sz="2400"/>
            </a:lvl1pPr>
          </a:lstStyle>
          <a:p>
            <a:pPr/>
            <a:r>
              <a:t>–Johnny Appleseed</a:t>
            </a:r>
          </a:p>
        </p:txBody>
      </p:sp>
      <p:sp>
        <p:nvSpPr>
          <p:cNvPr id="94" name="“Type a quote here.”"/>
          <p:cNvSpPr txBox="1"/>
          <p:nvPr>
            <p:ph type="body" sz="quarter" idx="14"/>
          </p:nvPr>
        </p:nvSpPr>
        <p:spPr>
          <a:xfrm>
            <a:off x="1270000" y="4267112"/>
            <a:ext cx="10464800" cy="609776"/>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pPr/>
            <a:r>
              <a:t>“Type a quote here.” </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type="tx" showMasterSp="1" showMasterPhAnim="1">
  <p:cSld name="Photo">
    <p:spTree>
      <p:nvGrpSpPr>
        <p:cNvPr id="1" name=""/>
        <p:cNvGrpSpPr/>
        <p:nvPr/>
      </p:nvGrpSpPr>
      <p:grpSpPr>
        <a:xfrm>
          <a:off x="0" y="0"/>
          <a:ext cx="0" cy="0"/>
          <a:chOff x="0" y="0"/>
          <a:chExt cx="0" cy="0"/>
        </a:xfrm>
      </p:grpSpPr>
      <p:sp>
        <p:nvSpPr>
          <p:cNvPr id="102" name="Image"/>
          <p:cNvSpPr/>
          <p:nvPr>
            <p:ph type="pic" idx="13"/>
          </p:nvPr>
        </p:nvSpPr>
        <p:spPr>
          <a:xfrm>
            <a:off x="0" y="0"/>
            <a:ext cx="13004800" cy="975360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b="0"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Helvetica Neue"/>
          <a:ea typeface="Helvetica Neue"/>
          <a:cs typeface="Helvetica Neue"/>
          <a:sym typeface="Helvetica Neue"/>
        </a:defRPr>
      </a:lvl9pPr>
    </p:bodyStyle>
    <p:otherStyle>
      <a:lvl1pPr marL="0" marR="0" indent="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1pPr>
      <a:lvl2pPr marL="0" marR="0" indent="2286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2pPr>
      <a:lvl3pPr marL="0" marR="0" indent="4572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3pPr>
      <a:lvl4pPr marL="0" marR="0" indent="6858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4pPr>
      <a:lvl5pPr marL="0" marR="0" indent="9144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5pPr>
      <a:lvl6pPr marL="0" marR="0" indent="11430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6pPr>
      <a:lvl7pPr marL="0" marR="0" indent="13716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7pPr>
      <a:lvl8pPr marL="0" marR="0" indent="16002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8pPr>
      <a:lvl9pPr marL="0" marR="0" indent="1828800" algn="ctr" defTabSz="58420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tif"/></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tif"/></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gif"/></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gif"/></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gif"/></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tif"/></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4.tif"/></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mpositecode.blog/2018/02/02/reading-up-on-observability-and-monitoring/" TargetMode="External"/></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5.tif"/></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mpositecode.blog"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9" name="Node.js"/>
          <p:cNvSpPr txBox="1"/>
          <p:nvPr>
            <p:ph type="ctrTitle"/>
          </p:nvPr>
        </p:nvSpPr>
        <p:spPr>
          <a:prstGeom prst="rect">
            <a:avLst/>
          </a:prstGeom>
        </p:spPr>
        <p:txBody>
          <a:bodyPr/>
          <a:lstStyle/>
          <a:p>
            <a:pPr/>
            <a:r>
              <a:t>Node.js</a:t>
            </a:r>
          </a:p>
        </p:txBody>
      </p:sp>
      <p:sp>
        <p:nvSpPr>
          <p:cNvPr id="120" name="Nodal Inception"/>
          <p:cNvSpPr txBox="1"/>
          <p:nvPr>
            <p:ph type="subTitle" sz="quarter" idx="1"/>
          </p:nvPr>
        </p:nvSpPr>
        <p:spPr>
          <a:prstGeom prst="rect">
            <a:avLst/>
          </a:prstGeom>
        </p:spPr>
        <p:txBody>
          <a:bodyPr/>
          <a:lstStyle/>
          <a:p>
            <a:pPr/>
            <a:r>
              <a:t>Nodal Inception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4" name="Objectives"/>
          <p:cNvSpPr txBox="1"/>
          <p:nvPr>
            <p:ph type="title"/>
          </p:nvPr>
        </p:nvSpPr>
        <p:spPr>
          <a:prstGeom prst="rect">
            <a:avLst/>
          </a:prstGeom>
        </p:spPr>
        <p:txBody>
          <a:bodyPr/>
          <a:lstStyle/>
          <a:p>
            <a:pPr/>
            <a:r>
              <a:t>Objectives</a:t>
            </a:r>
          </a:p>
        </p:txBody>
      </p:sp>
      <p:sp>
        <p:nvSpPr>
          <p:cNvPr id="125" name="Break Things…"/>
          <p:cNvSpPr txBox="1"/>
          <p:nvPr>
            <p:ph type="body" idx="1"/>
          </p:nvPr>
        </p:nvSpPr>
        <p:spPr>
          <a:prstGeom prst="rect">
            <a:avLst/>
          </a:prstGeom>
        </p:spPr>
        <p:txBody>
          <a:bodyPr/>
          <a:lstStyle/>
          <a:p>
            <a:pPr/>
            <a:r>
              <a:t>Break Things</a:t>
            </a:r>
          </a:p>
          <a:p>
            <a:pPr/>
            <a:r>
              <a:t>Create New</a:t>
            </a:r>
          </a:p>
          <a:p>
            <a:pPr/>
            <a:r>
              <a:t>Build Better</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9" name="Context"/>
          <p:cNvSpPr txBox="1"/>
          <p:nvPr>
            <p:ph type="title"/>
          </p:nvPr>
        </p:nvSpPr>
        <p:spPr>
          <a:prstGeom prst="rect">
            <a:avLst/>
          </a:prstGeom>
        </p:spPr>
        <p:txBody>
          <a:bodyPr/>
          <a:lstStyle/>
          <a:p>
            <a:pPr/>
            <a:r>
              <a:t>Context</a:t>
            </a:r>
          </a:p>
        </p:txBody>
      </p:sp>
      <p:sp>
        <p:nvSpPr>
          <p:cNvPr id="130" name="Short History…"/>
          <p:cNvSpPr txBox="1"/>
          <p:nvPr>
            <p:ph type="body" idx="1"/>
          </p:nvPr>
        </p:nvSpPr>
        <p:spPr>
          <a:prstGeom prst="rect">
            <a:avLst/>
          </a:prstGeom>
        </p:spPr>
        <p:txBody>
          <a:bodyPr/>
          <a:lstStyle/>
          <a:p>
            <a:pPr/>
            <a:r>
              <a:t>Short History</a:t>
            </a:r>
          </a:p>
          <a:p>
            <a:pPr/>
            <a:r>
              <a:t>New Containment</a:t>
            </a:r>
          </a:p>
          <a:p>
            <a:pPr/>
            <a:r>
              <a:t>Future Shipping</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34" name="Image" descr="Image"/>
          <p:cNvPicPr>
            <a:picLocks noChangeAspect="1"/>
          </p:cNvPicPr>
          <p:nvPr>
            <p:ph type="pic" idx="13"/>
          </p:nvPr>
        </p:nvPicPr>
        <p:blipFill>
          <a:blip r:embed="rId3">
            <a:extLst/>
          </a:blip>
          <a:srcRect l="0" t="0" r="0" b="0"/>
          <a:stretch>
            <a:fillRect/>
          </a:stretch>
        </p:blipFill>
        <p:spPr>
          <a:xfrm>
            <a:off x="6718300" y="4107830"/>
            <a:ext cx="5334000" cy="3252440"/>
          </a:xfrm>
          <a:prstGeom prst="rect">
            <a:avLst/>
          </a:prstGeom>
        </p:spPr>
      </p:pic>
      <p:sp>
        <p:nvSpPr>
          <p:cNvPr id="135" name="Short History"/>
          <p:cNvSpPr txBox="1"/>
          <p:nvPr>
            <p:ph type="title"/>
          </p:nvPr>
        </p:nvSpPr>
        <p:spPr>
          <a:prstGeom prst="rect">
            <a:avLst/>
          </a:prstGeom>
        </p:spPr>
        <p:txBody>
          <a:bodyPr/>
          <a:lstStyle/>
          <a:p>
            <a:pPr/>
            <a:r>
              <a:t>Short History</a:t>
            </a:r>
          </a:p>
        </p:txBody>
      </p:sp>
      <p:sp>
        <p:nvSpPr>
          <p:cNvPr id="136" name="Ryan Dhal…"/>
          <p:cNvSpPr txBox="1"/>
          <p:nvPr>
            <p:ph type="body" sz="half" idx="1"/>
          </p:nvPr>
        </p:nvSpPr>
        <p:spPr>
          <a:prstGeom prst="rect">
            <a:avLst/>
          </a:prstGeom>
        </p:spPr>
        <p:txBody>
          <a:bodyPr/>
          <a:lstStyle/>
          <a:p>
            <a:pPr/>
            <a:r>
              <a:t>Ryan Dhal</a:t>
            </a:r>
          </a:p>
          <a:p>
            <a:pPr/>
            <a:r>
              <a:t>Focused Deployments</a:t>
            </a:r>
          </a:p>
          <a:p>
            <a:pPr/>
            <a:r>
              <a:t>Simplified Web</a:t>
            </a:r>
          </a:p>
          <a:p>
            <a:pPr/>
            <a:r>
              <a:t>Huge Community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40" name="Image" descr="Image"/>
          <p:cNvPicPr>
            <a:picLocks noChangeAspect="1"/>
          </p:cNvPicPr>
          <p:nvPr>
            <p:ph type="pic" idx="13"/>
          </p:nvPr>
        </p:nvPicPr>
        <p:blipFill>
          <a:blip r:embed="rId3">
            <a:extLst/>
          </a:blip>
          <a:srcRect l="0" t="0" r="0" b="0"/>
          <a:stretch>
            <a:fillRect/>
          </a:stretch>
        </p:blipFill>
        <p:spPr>
          <a:xfrm>
            <a:off x="6718300" y="3648940"/>
            <a:ext cx="5334000" cy="4170220"/>
          </a:xfrm>
          <a:prstGeom prst="rect">
            <a:avLst/>
          </a:prstGeom>
        </p:spPr>
      </p:pic>
      <p:sp>
        <p:nvSpPr>
          <p:cNvPr id="141" name="New Containment"/>
          <p:cNvSpPr txBox="1"/>
          <p:nvPr>
            <p:ph type="title"/>
          </p:nvPr>
        </p:nvSpPr>
        <p:spPr>
          <a:prstGeom prst="rect">
            <a:avLst/>
          </a:prstGeom>
        </p:spPr>
        <p:txBody>
          <a:bodyPr/>
          <a:lstStyle/>
          <a:p>
            <a:pPr/>
            <a:r>
              <a:t>New Containment</a:t>
            </a:r>
          </a:p>
        </p:txBody>
      </p:sp>
      <p:sp>
        <p:nvSpPr>
          <p:cNvPr id="142" name="Docker (Rocket?)…"/>
          <p:cNvSpPr txBox="1"/>
          <p:nvPr>
            <p:ph type="body" sz="half" idx="1"/>
          </p:nvPr>
        </p:nvSpPr>
        <p:spPr>
          <a:prstGeom prst="rect">
            <a:avLst/>
          </a:prstGeom>
        </p:spPr>
        <p:txBody>
          <a:bodyPr/>
          <a:lstStyle/>
          <a:p>
            <a:pPr/>
            <a:r>
              <a:t>Docker (Rocket?)</a:t>
            </a:r>
          </a:p>
          <a:p>
            <a:pPr/>
            <a:r>
              <a:t>Kubernetes</a:t>
            </a:r>
          </a:p>
          <a:p>
            <a:pPr/>
            <a:r>
              <a:t>Beanstalk (PaaS?)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6" name="Future Shipping"/>
          <p:cNvSpPr txBox="1"/>
          <p:nvPr>
            <p:ph type="title"/>
          </p:nvPr>
        </p:nvSpPr>
        <p:spPr>
          <a:prstGeom prst="rect">
            <a:avLst/>
          </a:prstGeom>
        </p:spPr>
        <p:txBody>
          <a:bodyPr/>
          <a:lstStyle/>
          <a:p>
            <a:pPr/>
            <a:r>
              <a:t>Future Shipping</a:t>
            </a:r>
          </a:p>
        </p:txBody>
      </p:sp>
      <p:sp>
        <p:nvSpPr>
          <p:cNvPr id="147" name="Observing Events…"/>
          <p:cNvSpPr txBox="1"/>
          <p:nvPr>
            <p:ph type="body" sz="half" idx="1"/>
          </p:nvPr>
        </p:nvSpPr>
        <p:spPr>
          <a:xfrm>
            <a:off x="952500" y="2590800"/>
            <a:ext cx="6983863" cy="6286500"/>
          </a:xfrm>
          <a:prstGeom prst="rect">
            <a:avLst/>
          </a:prstGeom>
        </p:spPr>
        <p:txBody>
          <a:bodyPr/>
          <a:lstStyle/>
          <a:p>
            <a:pPr/>
            <a:r>
              <a:t>Observing Events</a:t>
            </a:r>
          </a:p>
          <a:p>
            <a:pPr/>
            <a:r>
              <a:t>Teach Your Machines</a:t>
            </a:r>
          </a:p>
          <a:p>
            <a:pPr/>
            <a:r>
              <a:t>Bigger Code</a:t>
            </a:r>
          </a:p>
          <a:p>
            <a:pPr/>
            <a:r>
              <a:t>Transparency</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1000"/>
                                  </p:stCondLst>
                                  <p:iterate type="el" backwards="0">
                                    <p:tmAbs val="0"/>
                                  </p:iterate>
                                  <p:childTnLst>
                                    <p:set>
                                      <p:cBhvr>
                                        <p:cTn id="6" fill="hold"/>
                                        <p:tgtEl>
                                          <p:spTgt spid="147">
                                            <p:bg/>
                                          </p:spTgt>
                                        </p:tgtEl>
                                        <p:attrNameLst>
                                          <p:attrName>style.visibility</p:attrName>
                                        </p:attrNameLst>
                                      </p:cBhvr>
                                      <p:to>
                                        <p:strVal val="visible"/>
                                      </p:to>
                                    </p:set>
                                  </p:childTnLst>
                                </p:cTn>
                              </p:par>
                              <p:par>
                                <p:cTn id="7" presetClass="entr" nodeType="withEffect" presetSubtype="0" presetID="1" grpId="1" fill="hold">
                                  <p:stCondLst>
                                    <p:cond delay="1000"/>
                                  </p:stCondLst>
                                  <p:iterate type="el" backwards="0">
                                    <p:tmAbs val="0"/>
                                  </p:iterate>
                                  <p:childTnLst>
                                    <p:set>
                                      <p:cBhvr>
                                        <p:cTn id="8" fill="hold"/>
                                        <p:tgtEl>
                                          <p:spTgt spid="147">
                                            <p:txEl>
                                              <p:pRg st="0" end="0"/>
                                            </p:txEl>
                                          </p:spTgt>
                                        </p:tgtEl>
                                        <p:attrNameLst>
                                          <p:attrName>style.visibility</p:attrName>
                                        </p:attrNameLst>
                                      </p:cBhvr>
                                      <p:to>
                                        <p:strVal val="visible"/>
                                      </p:to>
                                    </p:set>
                                  </p:childTnLst>
                                </p:cTn>
                              </p:par>
                            </p:childTnLst>
                          </p:cTn>
                        </p:par>
                        <p:par>
                          <p:cTn id="9" fill="hold">
                            <p:stCondLst>
                              <p:cond delay="1000"/>
                            </p:stCondLst>
                            <p:childTnLst>
                              <p:par>
                                <p:cTn id="10" presetClass="entr" nodeType="afterEffect" presetSubtype="0" presetID="1" grpId="1" fill="hold">
                                  <p:stCondLst>
                                    <p:cond delay="1000"/>
                                  </p:stCondLst>
                                  <p:iterate type="el" backwards="0">
                                    <p:tmAbs val="0"/>
                                  </p:iterate>
                                  <p:childTnLst>
                                    <p:set>
                                      <p:cBhvr>
                                        <p:cTn id="11" fill="hold"/>
                                        <p:tgtEl>
                                          <p:spTgt spid="147">
                                            <p:txEl>
                                              <p:pRg st="1" end="1"/>
                                            </p:txEl>
                                          </p:spTgt>
                                        </p:tgtEl>
                                        <p:attrNameLst>
                                          <p:attrName>style.visibility</p:attrName>
                                        </p:attrNameLst>
                                      </p:cBhvr>
                                      <p:to>
                                        <p:strVal val="visible"/>
                                      </p:to>
                                    </p:set>
                                  </p:childTnLst>
                                </p:cTn>
                              </p:par>
                            </p:childTnLst>
                          </p:cTn>
                        </p:par>
                        <p:par>
                          <p:cTn id="12" fill="hold">
                            <p:stCondLst>
                              <p:cond delay="2000"/>
                            </p:stCondLst>
                            <p:childTnLst>
                              <p:par>
                                <p:cTn id="13" presetClass="entr" nodeType="afterEffect" presetSubtype="0" presetID="1" grpId="1" fill="hold">
                                  <p:stCondLst>
                                    <p:cond delay="1000"/>
                                  </p:stCondLst>
                                  <p:iterate type="el" backwards="0">
                                    <p:tmAbs val="0"/>
                                  </p:iterate>
                                  <p:childTnLst>
                                    <p:set>
                                      <p:cBhvr>
                                        <p:cTn id="14" fill="hold"/>
                                        <p:tgtEl>
                                          <p:spTgt spid="147">
                                            <p:txEl>
                                              <p:pRg st="2" end="2"/>
                                            </p:txEl>
                                          </p:spTgt>
                                        </p:tgtEl>
                                        <p:attrNameLst>
                                          <p:attrName>style.visibility</p:attrName>
                                        </p:attrNameLst>
                                      </p:cBhvr>
                                      <p:to>
                                        <p:strVal val="visible"/>
                                      </p:to>
                                    </p:set>
                                  </p:childTnLst>
                                </p:cTn>
                              </p:par>
                            </p:childTnLst>
                          </p:cTn>
                        </p:par>
                        <p:par>
                          <p:cTn id="15" fill="hold">
                            <p:stCondLst>
                              <p:cond delay="3000"/>
                            </p:stCondLst>
                            <p:childTnLst>
                              <p:par>
                                <p:cTn id="16" presetClass="entr" nodeType="afterEffect" presetSubtype="0" presetID="1" grpId="1" fill="hold">
                                  <p:stCondLst>
                                    <p:cond delay="1000"/>
                                  </p:stCondLst>
                                  <p:iterate type="el" backwards="0">
                                    <p:tmAbs val="0"/>
                                  </p:iterate>
                                  <p:childTnLst>
                                    <p:set>
                                      <p:cBhvr>
                                        <p:cTn id="17" fill="hold"/>
                                        <p:tgtEl>
                                          <p:spTgt spid="14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147" grpId="1"/>
    </p:bldLst>
  </p:timing>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1" name="Demo:  Today"/>
          <p:cNvSpPr txBox="1"/>
          <p:nvPr>
            <p:ph type="title"/>
          </p:nvPr>
        </p:nvSpPr>
        <p:spPr>
          <a:prstGeom prst="rect">
            <a:avLst/>
          </a:prstGeom>
        </p:spPr>
        <p:txBody>
          <a:bodyPr/>
          <a:lstStyle/>
          <a:p>
            <a:pPr/>
            <a:r>
              <a:t>Demo:  Today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3" name="Steps"/>
          <p:cNvSpPr txBox="1"/>
          <p:nvPr>
            <p:ph type="title"/>
          </p:nvPr>
        </p:nvSpPr>
        <p:spPr>
          <a:prstGeom prst="rect">
            <a:avLst/>
          </a:prstGeom>
        </p:spPr>
        <p:txBody>
          <a:bodyPr/>
          <a:lstStyle/>
          <a:p>
            <a:pPr/>
            <a:r>
              <a:t>Steps</a:t>
            </a:r>
          </a:p>
        </p:txBody>
      </p:sp>
      <p:sp>
        <p:nvSpPr>
          <p:cNvPr id="154" name="Kubernetes…"/>
          <p:cNvSpPr txBox="1"/>
          <p:nvPr>
            <p:ph type="body" idx="1"/>
          </p:nvPr>
        </p:nvSpPr>
        <p:spPr>
          <a:prstGeom prst="rect">
            <a:avLst/>
          </a:prstGeom>
        </p:spPr>
        <p:txBody>
          <a:bodyPr/>
          <a:lstStyle/>
          <a:p>
            <a:pPr marL="635000" indent="-635000">
              <a:buSzPct val="100000"/>
              <a:buAutoNum type="arabicPeriod" startAt="1"/>
            </a:pPr>
            <a:r>
              <a:t>Kubernetes</a:t>
            </a:r>
          </a:p>
          <a:p>
            <a:pPr marL="635000" indent="-635000">
              <a:buSzPct val="100000"/>
              <a:buAutoNum type="arabicPeriod" startAt="1"/>
            </a:pPr>
            <a:r>
              <a:t>Node.js Server</a:t>
            </a:r>
          </a:p>
          <a:p>
            <a:pPr marL="635000" indent="-635000">
              <a:buSzPct val="100000"/>
              <a:buAutoNum type="arabicPeriod" startAt="1"/>
            </a:pPr>
            <a:r>
              <a:t>Run It…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56" name="the_inital_build_nodejs_app.gif" descr="the_inital_build_nodejs_app.gif"/>
          <p:cNvPicPr>
            <a:picLocks noChangeAspect="0"/>
          </p:cNvPicPr>
          <p:nvPr/>
        </p:nvPicPr>
        <p:blipFill>
          <a:blip r:embed="rId3">
            <a:extLst/>
          </a:blip>
          <a:stretch>
            <a:fillRect/>
          </a:stretch>
        </p:blipFill>
        <p:spPr>
          <a:xfrm>
            <a:off x="-8915" y="-6034"/>
            <a:ext cx="13124230" cy="9765668"/>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0" name="Next Steps"/>
          <p:cNvSpPr txBox="1"/>
          <p:nvPr>
            <p:ph type="title"/>
          </p:nvPr>
        </p:nvSpPr>
        <p:spPr>
          <a:prstGeom prst="rect">
            <a:avLst/>
          </a:prstGeom>
        </p:spPr>
        <p:txBody>
          <a:bodyPr/>
          <a:lstStyle/>
          <a:p>
            <a:pPr/>
            <a:r>
              <a:t>Next Steps</a:t>
            </a:r>
          </a:p>
        </p:txBody>
      </p:sp>
      <p:sp>
        <p:nvSpPr>
          <p:cNvPr id="161" name="Dockerfile…"/>
          <p:cNvSpPr txBox="1"/>
          <p:nvPr>
            <p:ph type="body" idx="1"/>
          </p:nvPr>
        </p:nvSpPr>
        <p:spPr>
          <a:prstGeom prst="rect">
            <a:avLst/>
          </a:prstGeom>
        </p:spPr>
        <p:txBody>
          <a:bodyPr/>
          <a:lstStyle/>
          <a:p>
            <a:pPr/>
            <a:r>
              <a:t>Dockerfile</a:t>
            </a:r>
          </a:p>
          <a:p>
            <a:pPr/>
            <a:r>
              <a:t>Build Image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63" name="build-docker-image-pt1.gif" descr="build-docker-image-pt1.gif"/>
          <p:cNvPicPr>
            <a:picLocks noChangeAspect="0"/>
          </p:cNvPicPr>
          <p:nvPr/>
        </p:nvPicPr>
        <p:blipFill>
          <a:blip r:embed="rId2">
            <a:extLst/>
          </a:blip>
          <a:stretch>
            <a:fillRect/>
          </a:stretch>
        </p:blipFill>
        <p:spPr>
          <a:xfrm>
            <a:off x="0" y="6350"/>
            <a:ext cx="13047523" cy="975360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5" name="Deployment"/>
          <p:cNvSpPr txBox="1"/>
          <p:nvPr>
            <p:ph type="title"/>
          </p:nvPr>
        </p:nvSpPr>
        <p:spPr>
          <a:prstGeom prst="rect">
            <a:avLst/>
          </a:prstGeom>
        </p:spPr>
        <p:txBody>
          <a:bodyPr/>
          <a:lstStyle/>
          <a:p>
            <a:pPr/>
            <a:r>
              <a:t>Deployment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69" name="create-kubernetes-app.gif" descr="create-kubernetes-app.gif"/>
          <p:cNvPicPr>
            <a:picLocks noChangeAspect="0"/>
          </p:cNvPicPr>
          <p:nvPr/>
        </p:nvPicPr>
        <p:blipFill>
          <a:blip r:embed="rId3">
            <a:extLst/>
          </a:blip>
          <a:stretch>
            <a:fillRect/>
          </a:stretch>
        </p:blipFill>
        <p:spPr>
          <a:xfrm>
            <a:off x="-12750" y="0"/>
            <a:ext cx="13030300" cy="975360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3" name="Minimal"/>
          <p:cNvSpPr txBox="1"/>
          <p:nvPr>
            <p:ph type="title"/>
          </p:nvPr>
        </p:nvSpPr>
        <p:spPr>
          <a:prstGeom prst="rect">
            <a:avLst/>
          </a:prstGeom>
        </p:spPr>
        <p:txBody>
          <a:bodyPr/>
          <a:lstStyle/>
          <a:p>
            <a:pPr/>
            <a:r>
              <a:t>Minimal</a:t>
            </a:r>
          </a:p>
        </p:txBody>
      </p:sp>
      <p:sp>
        <p:nvSpPr>
          <p:cNvPr id="174" name="Alpine w/ Node.js 9.11.1…"/>
          <p:cNvSpPr txBox="1"/>
          <p:nvPr>
            <p:ph type="body" idx="1"/>
          </p:nvPr>
        </p:nvSpPr>
        <p:spPr>
          <a:prstGeom prst="rect">
            <a:avLst/>
          </a:prstGeom>
        </p:spPr>
        <p:txBody>
          <a:bodyPr/>
          <a:lstStyle/>
          <a:p>
            <a:pPr/>
            <a:r>
              <a:t>Alpine w/ Node.js 9.11.1</a:t>
            </a:r>
          </a:p>
          <a:p>
            <a:pPr/>
            <a:r>
              <a:t>~Microservice Like</a:t>
            </a:r>
          </a:p>
          <a:p>
            <a:pPr/>
            <a:r>
              <a:t>Quick Baseline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8" name="Recent Events"/>
          <p:cNvSpPr txBox="1"/>
          <p:nvPr>
            <p:ph type="title"/>
          </p:nvPr>
        </p:nvSpPr>
        <p:spPr>
          <a:prstGeom prst="rect">
            <a:avLst/>
          </a:prstGeom>
        </p:spPr>
        <p:txBody>
          <a:bodyPr/>
          <a:lstStyle/>
          <a:p>
            <a:pPr/>
            <a:r>
              <a:t>Recent Events</a:t>
            </a:r>
          </a:p>
        </p:txBody>
      </p:sp>
      <p:sp>
        <p:nvSpPr>
          <p:cNvPr id="179" name="Node.js v4 is Dead!…"/>
          <p:cNvSpPr txBox="1"/>
          <p:nvPr>
            <p:ph type="body" idx="1"/>
          </p:nvPr>
        </p:nvSpPr>
        <p:spPr>
          <a:prstGeom prst="rect">
            <a:avLst/>
          </a:prstGeom>
        </p:spPr>
        <p:txBody>
          <a:bodyPr/>
          <a:lstStyle/>
          <a:p>
            <a:pPr/>
            <a:r>
              <a:t>Node.js v4 is </a:t>
            </a:r>
            <a:r>
              <a:rPr b="1">
                <a:solidFill>
                  <a:schemeClr val="accent5">
                    <a:hueOff val="-82419"/>
                    <a:satOff val="-9513"/>
                    <a:lumOff val="-16343"/>
                  </a:schemeClr>
                </a:solidFill>
              </a:rPr>
              <a:t>Dead!</a:t>
            </a:r>
          </a:p>
          <a:p>
            <a:pPr/>
            <a:r>
              <a:t>It’s on v10.x! - Long live Node.js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83" name="Image" descr="Image"/>
          <p:cNvPicPr>
            <a:picLocks noChangeAspect="1"/>
          </p:cNvPicPr>
          <p:nvPr>
            <p:ph type="pic" idx="13"/>
          </p:nvPr>
        </p:nvPicPr>
        <p:blipFill>
          <a:blip r:embed="rId2">
            <a:extLst/>
          </a:blip>
          <a:srcRect l="0" t="0" r="0" b="0"/>
          <a:stretch>
            <a:fillRect/>
          </a:stretch>
        </p:blipFill>
        <p:spPr>
          <a:xfrm>
            <a:off x="0" y="1490133"/>
            <a:ext cx="13004800" cy="6773334"/>
          </a:xfrm>
          <a:prstGeom prst="rect">
            <a:avLst/>
          </a:prstGeom>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5" name="Node.js v10.x"/>
          <p:cNvSpPr txBox="1"/>
          <p:nvPr>
            <p:ph type="title"/>
          </p:nvPr>
        </p:nvSpPr>
        <p:spPr>
          <a:prstGeom prst="rect">
            <a:avLst/>
          </a:prstGeom>
        </p:spPr>
        <p:txBody>
          <a:bodyPr/>
          <a:lstStyle/>
          <a:p>
            <a:pPr/>
            <a:r>
              <a:t>Node.js v10.x</a:t>
            </a:r>
          </a:p>
        </p:txBody>
      </p:sp>
      <p:sp>
        <p:nvSpPr>
          <p:cNvPr id="186" name="7th Major Release…"/>
          <p:cNvSpPr txBox="1"/>
          <p:nvPr>
            <p:ph type="body" idx="1"/>
          </p:nvPr>
        </p:nvSpPr>
        <p:spPr>
          <a:prstGeom prst="rect">
            <a:avLst/>
          </a:prstGeom>
        </p:spPr>
        <p:txBody>
          <a:bodyPr/>
          <a:lstStyle/>
          <a:p>
            <a:pPr/>
            <a:r>
              <a:t>7th Major Release</a:t>
            </a:r>
          </a:p>
          <a:p>
            <a:pPr/>
            <a:r>
              <a:t>http 2</a:t>
            </a:r>
          </a:p>
          <a:p>
            <a:pPr/>
            <a:r>
              <a:t>N-API</a:t>
            </a:r>
          </a:p>
          <a:p>
            <a:pPr/>
            <a:r>
              <a:t>TTD Support for generators</a:t>
            </a:r>
          </a:p>
          <a:p>
            <a:pPr/>
            <a:r>
              <a:t>… more …</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8" name="Future"/>
          <p:cNvSpPr txBox="1"/>
          <p:nvPr>
            <p:ph type="title"/>
          </p:nvPr>
        </p:nvSpPr>
        <p:spPr>
          <a:prstGeom prst="rect">
            <a:avLst/>
          </a:prstGeom>
        </p:spPr>
        <p:txBody>
          <a:bodyPr/>
          <a:lstStyle/>
          <a:p>
            <a:pPr/>
            <a:r>
              <a:t>Future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92" name="Image" descr="Image"/>
          <p:cNvPicPr>
            <a:picLocks noChangeAspect="1"/>
          </p:cNvPicPr>
          <p:nvPr>
            <p:ph type="pic" idx="13"/>
          </p:nvPr>
        </p:nvPicPr>
        <p:blipFill>
          <a:blip r:embed="rId3">
            <a:extLst/>
          </a:blip>
          <a:srcRect l="0" t="0" r="0" b="0"/>
          <a:stretch>
            <a:fillRect/>
          </a:stretch>
        </p:blipFill>
        <p:spPr>
          <a:xfrm>
            <a:off x="0" y="236768"/>
            <a:ext cx="13004800" cy="9280064"/>
          </a:xfrm>
          <a:prstGeom prst="rect">
            <a:avLst/>
          </a:prstGeom>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6" name="Node.js"/>
          <p:cNvSpPr txBox="1"/>
          <p:nvPr>
            <p:ph type="title"/>
          </p:nvPr>
        </p:nvSpPr>
        <p:spPr>
          <a:prstGeom prst="rect">
            <a:avLst/>
          </a:prstGeom>
        </p:spPr>
        <p:txBody>
          <a:bodyPr/>
          <a:lstStyle/>
          <a:p>
            <a:pPr/>
            <a:r>
              <a:t>Node.js</a:t>
            </a:r>
          </a:p>
        </p:txBody>
      </p:sp>
      <p:sp>
        <p:nvSpPr>
          <p:cNvPr id="197" name="Observability…"/>
          <p:cNvSpPr txBox="1"/>
          <p:nvPr>
            <p:ph type="body" idx="1"/>
          </p:nvPr>
        </p:nvSpPr>
        <p:spPr>
          <a:prstGeom prst="rect">
            <a:avLst/>
          </a:prstGeom>
        </p:spPr>
        <p:txBody>
          <a:bodyPr/>
          <a:lstStyle/>
          <a:p>
            <a:pPr/>
            <a:r>
              <a:t>Observability</a:t>
            </a:r>
          </a:p>
          <a:p>
            <a:pPr/>
            <a:r>
              <a:t>Machine Learning</a:t>
            </a:r>
          </a:p>
          <a:p>
            <a:pPr/>
            <a:r>
              <a:t>Transparency</a:t>
            </a:r>
          </a:p>
          <a:p>
            <a:pPr/>
            <a:r>
              <a:t>Operations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01" name="Image" descr="Image"/>
          <p:cNvPicPr>
            <a:picLocks noChangeAspect="1"/>
          </p:cNvPicPr>
          <p:nvPr>
            <p:ph type="pic" idx="13"/>
          </p:nvPr>
        </p:nvPicPr>
        <p:blipFill>
          <a:blip r:embed="rId3">
            <a:extLst/>
          </a:blip>
          <a:srcRect l="0" t="0" r="0" b="0"/>
          <a:stretch>
            <a:fillRect/>
          </a:stretch>
        </p:blipFill>
        <p:spPr>
          <a:xfrm>
            <a:off x="1591911" y="736024"/>
            <a:ext cx="9820978" cy="8281552"/>
          </a:xfrm>
          <a:prstGeom prst="rect">
            <a:avLst/>
          </a:prstGeom>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5" name="Observability"/>
          <p:cNvSpPr txBox="1"/>
          <p:nvPr>
            <p:ph type="title"/>
          </p:nvPr>
        </p:nvSpPr>
        <p:spPr>
          <a:prstGeom prst="rect">
            <a:avLst/>
          </a:prstGeom>
        </p:spPr>
        <p:txBody>
          <a:bodyPr/>
          <a:lstStyle/>
          <a:p>
            <a:pPr/>
            <a:r>
              <a:t>Observability</a:t>
            </a:r>
          </a:p>
        </p:txBody>
      </p:sp>
      <p:sp>
        <p:nvSpPr>
          <p:cNvPr id="206" name="Monitoring, APM, Tracing ……"/>
          <p:cNvSpPr txBox="1"/>
          <p:nvPr>
            <p:ph type="body" idx="1"/>
          </p:nvPr>
        </p:nvSpPr>
        <p:spPr>
          <a:prstGeom prst="rect">
            <a:avLst/>
          </a:prstGeom>
        </p:spPr>
        <p:txBody>
          <a:bodyPr/>
          <a:lstStyle/>
          <a:p>
            <a:pPr/>
            <a:r>
              <a:t>Monitoring, APM, Tracing …</a:t>
            </a:r>
          </a:p>
          <a:p>
            <a:pPr/>
            <a:r>
              <a:t>The closest is tracing…</a:t>
            </a:r>
          </a:p>
          <a:p>
            <a:pPr/>
            <a:r>
              <a:t>About tracking app/services events…</a:t>
            </a:r>
          </a:p>
          <a:p>
            <a:pPr/>
            <a:r>
              <a:rPr u="sng">
                <a:hlinkClick r:id="rId2" invalidUrl="" action="" tgtFrame="" tooltip="" history="1" highlightClick="0" endSnd="0"/>
              </a:rPr>
              <a:t>https://compositecode.blog/2018/02/02/reading-up-on-observability-and-monitoring/</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8" name="ML/AI"/>
          <p:cNvSpPr txBox="1"/>
          <p:nvPr>
            <p:ph type="title"/>
          </p:nvPr>
        </p:nvSpPr>
        <p:spPr>
          <a:prstGeom prst="rect">
            <a:avLst/>
          </a:prstGeom>
        </p:spPr>
        <p:txBody>
          <a:bodyPr/>
          <a:lstStyle/>
          <a:p>
            <a:pPr/>
            <a:r>
              <a:t>ML/AI</a:t>
            </a:r>
          </a:p>
        </p:txBody>
      </p:sp>
      <p:sp>
        <p:nvSpPr>
          <p:cNvPr id="209" name="Rooted in Tracing &amp; Events Data…"/>
          <p:cNvSpPr txBox="1"/>
          <p:nvPr>
            <p:ph type="body" idx="1"/>
          </p:nvPr>
        </p:nvSpPr>
        <p:spPr>
          <a:prstGeom prst="rect">
            <a:avLst/>
          </a:prstGeom>
        </p:spPr>
        <p:txBody>
          <a:bodyPr/>
          <a:lstStyle/>
          <a:p>
            <a:pPr/>
            <a:r>
              <a:t>Rooted in Tracing &amp; Events Data</a:t>
            </a:r>
          </a:p>
          <a:p>
            <a:pPr/>
            <a:r>
              <a:t>Ops vs. App Observability</a:t>
            </a:r>
          </a:p>
          <a:p>
            <a:pPr/>
            <a:r>
              <a:t>Alerting, But Actions</a:t>
            </a:r>
          </a:p>
          <a:p>
            <a:pPr/>
            <a:r>
              <a:t>Informed Distributed Systems Tracing</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11" name="Image" descr="Image"/>
          <p:cNvPicPr>
            <a:picLocks noChangeAspect="1"/>
          </p:cNvPicPr>
          <p:nvPr>
            <p:ph type="pic" idx="13"/>
          </p:nvPr>
        </p:nvPicPr>
        <p:blipFill>
          <a:blip r:embed="rId3">
            <a:extLst/>
          </a:blip>
          <a:srcRect l="12733" t="311" r="12733" b="311"/>
          <a:stretch>
            <a:fillRect/>
          </a:stretch>
        </p:blipFill>
        <p:spPr>
          <a:prstGeom prst="rect">
            <a:avLst/>
          </a:prstGeom>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5" name="Adron Hall"/>
          <p:cNvSpPr txBox="1"/>
          <p:nvPr>
            <p:ph type="title"/>
          </p:nvPr>
        </p:nvSpPr>
        <p:spPr>
          <a:prstGeom prst="rect">
            <a:avLst/>
          </a:prstGeom>
        </p:spPr>
        <p:txBody>
          <a:bodyPr/>
          <a:lstStyle/>
          <a:p>
            <a:pPr/>
            <a:r>
              <a:t>Adron Hall</a:t>
            </a:r>
          </a:p>
        </p:txBody>
      </p:sp>
      <p:sp>
        <p:nvSpPr>
          <p:cNvPr id="216" name="Twitter @Adron…"/>
          <p:cNvSpPr txBox="1"/>
          <p:nvPr>
            <p:ph type="body" idx="1"/>
          </p:nvPr>
        </p:nvSpPr>
        <p:spPr>
          <a:prstGeom prst="rect">
            <a:avLst/>
          </a:prstGeom>
        </p:spPr>
        <p:txBody>
          <a:bodyPr/>
          <a:lstStyle/>
          <a:p>
            <a:pPr/>
            <a:r>
              <a:t>Twitter @Adron</a:t>
            </a:r>
          </a:p>
          <a:p>
            <a:pPr/>
            <a:r>
              <a:t>Github @Adron</a:t>
            </a:r>
          </a:p>
          <a:p>
            <a:pPr/>
            <a:r>
              <a:rPr u="sng">
                <a:hlinkClick r:id="rId2" invalidUrl="" action="" tgtFrame="" tooltip="" history="1" highlightClick="0" endSnd="0"/>
              </a:rPr>
              <a:t>https://compositecode.blog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